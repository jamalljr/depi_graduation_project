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56" r:id="rId5"/>
    <p:sldId id="277" r:id="rId6"/>
    <p:sldId id="278" r:id="rId7"/>
    <p:sldId id="284" r:id="rId8"/>
    <p:sldId id="282" r:id="rId9"/>
    <p:sldId id="283" r:id="rId10"/>
    <p:sldId id="281" r:id="rId11"/>
    <p:sldId id="285" r:id="rId12"/>
    <p:sldId id="287" r:id="rId13"/>
    <p:sldId id="288" r:id="rId14"/>
    <p:sldId id="286" r:id="rId15"/>
    <p:sldId id="290" r:id="rId16"/>
    <p:sldId id="289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>
        <a:solidFill>
          <a:schemeClr val="accent1"/>
        </a:solidFill>
      </dgm:spPr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>
        <a:solidFill>
          <a:schemeClr val="accent1"/>
        </a:solidFill>
      </dgm:spPr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>
        <a:solidFill>
          <a:schemeClr val="accent1"/>
        </a:solidFill>
      </dgm:spPr>
    </dgm:pt>
    <dgm:pt modelId="{39509775-983E-4110-B989-EE2CD6514BE0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Lorem ipsum dolor sit amet, consectetuer adipiscing elit. </a:t>
          </a:r>
        </a:p>
      </dsp:txBody>
      <dsp:txXfrm>
        <a:off x="54974" y="2798862"/>
        <a:ext cx="2868750" cy="720000"/>
      </dsp:txXfrm>
    </dsp:sp>
    <dsp:sp modelId="{BCD8CDD9-0C56-4401-ADB1-8B48DAB2C96F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Nunc viverra imperdiet enim. Fusce est. Vivamus a tellus.</a:t>
          </a:r>
        </a:p>
      </dsp:txBody>
      <dsp:txXfrm>
        <a:off x="3425756" y="2798862"/>
        <a:ext cx="2868750" cy="720000"/>
      </dsp:txXfrm>
    </dsp:sp>
    <dsp:sp modelId="{FF93E135-77D6-48A0-8871-9BC93D705D06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Pellentesque habitant morbi tristique senectus et netus.</a:t>
          </a:r>
        </a:p>
      </dsp:txBody>
      <dsp:txXfrm>
        <a:off x="6796537" y="2798862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f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ands holding a pink ribbon&#10;&#10;AI-generated content may be incorrect.">
            <a:extLst>
              <a:ext uri="{FF2B5EF4-FFF2-40B4-BE49-F238E27FC236}">
                <a16:creationId xmlns:a16="http://schemas.microsoft.com/office/drawing/2014/main" id="{09A7F11A-3E45-710B-AF7F-CA744234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0" r="21762" b="-1"/>
          <a:stretch>
            <a:fillRect/>
          </a:stretch>
        </p:blipFill>
        <p:spPr>
          <a:xfrm>
            <a:off x="0" y="-10"/>
            <a:ext cx="7488498" cy="6857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923" r="64798" b="-1"/>
          <a:stretch>
            <a:fillRect/>
          </a:stretch>
        </p:blipFill>
        <p:spPr>
          <a:xfrm>
            <a:off x="5863095" y="-10"/>
            <a:ext cx="6480895" cy="6858000"/>
          </a:xfrm>
          <a:custGeom>
            <a:avLst/>
            <a:gdLst/>
            <a:ahLst/>
            <a:cxnLst/>
            <a:rect l="l" t="t" r="r" b="b"/>
            <a:pathLst>
              <a:path w="6442912" h="6858000">
                <a:moveTo>
                  <a:pt x="1673589" y="0"/>
                </a:moveTo>
                <a:lnTo>
                  <a:pt x="6442912" y="0"/>
                </a:lnTo>
                <a:lnTo>
                  <a:pt x="6442912" y="6858000"/>
                </a:lnTo>
                <a:lnTo>
                  <a:pt x="1673589" y="6858000"/>
                </a:lnTo>
                <a:close/>
                <a:moveTo>
                  <a:pt x="1431876" y="0"/>
                </a:moveTo>
                <a:lnTo>
                  <a:pt x="1508662" y="0"/>
                </a:lnTo>
                <a:lnTo>
                  <a:pt x="1508662" y="6858000"/>
                </a:lnTo>
                <a:lnTo>
                  <a:pt x="1431876" y="6858000"/>
                </a:lnTo>
                <a:close/>
                <a:moveTo>
                  <a:pt x="1097857" y="0"/>
                </a:moveTo>
                <a:lnTo>
                  <a:pt x="1306789" y="0"/>
                </a:lnTo>
                <a:lnTo>
                  <a:pt x="1306789" y="6858000"/>
                </a:lnTo>
                <a:lnTo>
                  <a:pt x="1097857" y="6858000"/>
                </a:lnTo>
                <a:close/>
                <a:moveTo>
                  <a:pt x="360190" y="0"/>
                </a:moveTo>
                <a:lnTo>
                  <a:pt x="932930" y="0"/>
                </a:lnTo>
                <a:lnTo>
                  <a:pt x="932930" y="6858000"/>
                </a:lnTo>
                <a:lnTo>
                  <a:pt x="360190" y="6858000"/>
                </a:lnTo>
                <a:close/>
                <a:moveTo>
                  <a:pt x="0" y="0"/>
                </a:moveTo>
                <a:lnTo>
                  <a:pt x="36576" y="0"/>
                </a:lnTo>
                <a:lnTo>
                  <a:pt x="3657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1FD935F-F10F-4401-946E-B365815D0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275" y="4676775"/>
            <a:ext cx="10917644" cy="1546950"/>
          </a:xfrm>
          <a:prstGeom prst="rect">
            <a:avLst/>
          </a:prstGeom>
          <a:solidFill>
            <a:srgbClr val="7C4858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773068"/>
            <a:ext cx="7277100" cy="1354365"/>
          </a:xfrm>
        </p:spPr>
        <p:txBody>
          <a:bodyPr>
            <a:normAutofit/>
          </a:bodyPr>
          <a:lstStyle/>
          <a:p>
            <a:r>
              <a:rPr lang="en-US" dirty="0"/>
              <a:t>Breast Density Classification Using ResNet18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599" y="4773068"/>
            <a:ext cx="3402069" cy="1354365"/>
          </a:xfrm>
        </p:spPr>
        <p:txBody>
          <a:bodyPr>
            <a:normAutofit/>
          </a:bodyPr>
          <a:lstStyle/>
          <a:p>
            <a:r>
              <a:rPr lang="en-US" sz="1400" b="1" dirty="0"/>
              <a:t>Prepared by : Ahmed  Jaber</a:t>
            </a:r>
          </a:p>
          <a:p>
            <a:r>
              <a:rPr lang="en-US" sz="1400" b="1" dirty="0"/>
              <a:t>                        Jamal</a:t>
            </a:r>
          </a:p>
          <a:p>
            <a:r>
              <a:rPr lang="en-US" sz="1400" b="1" dirty="0"/>
              <a:t>                         Mohamed   Abdelaziz</a:t>
            </a:r>
          </a:p>
          <a:p>
            <a:r>
              <a:rPr lang="en-US" sz="1400" b="1" dirty="0"/>
              <a:t>                         Omnia Mohamed </a:t>
            </a:r>
          </a:p>
          <a:p>
            <a:r>
              <a:rPr lang="en-US" sz="1400" b="1" dirty="0"/>
              <a:t>                         Tasneem </a:t>
            </a:r>
            <a:r>
              <a:rPr lang="en-US" sz="1400" b="1" dirty="0" err="1"/>
              <a:t>hussien</a:t>
            </a:r>
            <a:endParaRPr lang="en-US" sz="1400" b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EE518BB-1296-420F-8D80-6CAFE2E82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4993050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07AB0A12-EE20-F7E7-96F8-000FA5A54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38943" cy="1076976"/>
          </a:xfrm>
          <a:prstGeom prst="rect">
            <a:avLst/>
          </a:prstGeom>
        </p:spPr>
      </p:pic>
      <p:pic>
        <p:nvPicPr>
          <p:cNvPr id="8" name="Picture 7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B74B2219-4618-E896-CDC6-790B9F471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567" y="0"/>
            <a:ext cx="1470159" cy="82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Title Lorem Ipsum Dolor</a:t>
            </a:r>
          </a:p>
        </p:txBody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673402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0410-EB6F-3244-C9E6-41E91A098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A6512-FCF1-4724-BCF0-103C64550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This project aims to build an AI model capable of analyzing mammogram images and classifying breast density levels.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Breast density is an important clinical indicator that affects breast cancer detection.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model is trained using </a:t>
            </a:r>
            <a:r>
              <a:rPr lang="en-US" sz="2800" dirty="0" err="1"/>
              <a:t>PyTorch</a:t>
            </a:r>
            <a:r>
              <a:rPr lang="en-US" sz="2800" dirty="0"/>
              <a:t> and the ResNet18 architecture.</a:t>
            </a:r>
          </a:p>
          <a:p>
            <a:endParaRPr lang="en-US" dirty="0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97A73384-C5E0-BD01-3F06-34DBCF5F7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C529A726-77B5-F294-E113-B06D314E7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54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2662E-5D5F-9C6E-E26B-5013C5F1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6ACD2-9122-AFF5-43BF-06F0C11C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Problem Statement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6DB36-3ADD-49AC-EC14-29358DB4C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7066" y="804333"/>
            <a:ext cx="6499986" cy="5249334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Breast cancer is harder to detect in women with dense breast tissue.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Traditional methods require expert radiologists and can be time‑consuming.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goal is to develop a deep-learning model that: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Automatically analyzes mammograms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Classifies density into standardized categories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Supports radiologists in early and accurate diagnosis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3C42D096-01AD-2B21-7E10-91C173168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97098452-90F8-1E06-F564-A5E5B2087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85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A7FFF-8334-5B8F-7956-A157E688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5CDA-7CDE-5682-2C66-755858E6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RSNA Breast Density</a:t>
            </a:r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446AE975-D7ED-1DDD-E3C4-1AB981573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3B35BCDD-AD23-DC68-35AF-BF6A6F4E4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2670C-429D-5A11-F895-31531E966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dataset is provided by the Radiological Society of North America (RSNA).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It contains thousands of mammogram images labeled into 4 density types: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A: Almost entirely fatty                             C: Heterogeneously dense</a:t>
            </a:r>
          </a:p>
          <a:p>
            <a:pPr marL="0" indent="0">
              <a:buNone/>
            </a:pPr>
            <a:r>
              <a:rPr lang="en-US" sz="2800" dirty="0"/>
              <a:t>  B: Scattered fibroglandular density            D: Extremely dense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Dense tissue makes cancer detection more challenging.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48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0F2B-7E9A-A75D-7DE0-9B00704F8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BCD74-11BE-FE50-F1C4-9F73D752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D7AAC-AA9A-7C97-1635-F6721A533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During EDA, we checked: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Number of images per class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Image quality and missing files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Class imbalance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Metadata consistency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Distribution of density categories</a:t>
            </a:r>
          </a:p>
          <a:p>
            <a:endParaRPr lang="en-US" dirty="0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3F7831D6-D605-AD45-7AA1-A243E511F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3B5A96C9-6045-EBDF-54EB-9E736C695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13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2E368-B5D5-51B2-0F2E-19FD2AF8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DD68-F9F3-D0C2-AF6F-30711DB2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ED87A-9B89-9F82-F81E-3147A8E31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To prepare the images for training: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Image resizing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Normalization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Data augmentation (flip, rotation, contrast adjustments)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Removing corrupted samples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Dataset split into training, validation, and testing.</a:t>
            </a:r>
          </a:p>
          <a:p>
            <a:endParaRPr lang="en-US" dirty="0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EEE3127D-795D-6269-0F82-B8F897F16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450A6FF8-DAB6-BCFA-CDA6-28292A6C5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5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CE20-08E1-B3A8-092C-05D8EC3F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BFC4-48A0-A631-3D13-956A54BD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Architecture: ResNet18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91B04-060B-A30C-C3E8-F01A25CF5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ResNet18 is a CNN with skip connections.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Why ResNet18?</a:t>
            </a:r>
          </a:p>
          <a:p>
            <a:r>
              <a:rPr lang="en-US" sz="2800" dirty="0"/>
              <a:t>• Lightweight                     • Good accuracy</a:t>
            </a:r>
          </a:p>
          <a:p>
            <a:r>
              <a:rPr lang="en-US" sz="2800" dirty="0"/>
              <a:t>• Fast training                    • Ideal for medical imaging</a:t>
            </a:r>
          </a:p>
          <a:p>
            <a:r>
              <a:rPr lang="en-US" sz="2800" dirty="0"/>
              <a:t> 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Final FC layer replaced to output 4 classes.</a:t>
            </a:r>
          </a:p>
          <a:p>
            <a:endParaRPr lang="en-US" dirty="0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A8136389-8331-2FF4-A12C-8533B4922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19C8FE8B-151F-261B-3935-7D9D0784B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48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05FC-28D8-B117-877B-037BED0C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2BCE0-7CE0-A47F-34D0-848BA6DB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D7B1-9939-61D0-246D-4C24E6886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Training loop included: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/>
          </a:p>
          <a:p>
            <a:r>
              <a:rPr lang="en-US" dirty="0">
                <a:solidFill>
                  <a:srgbClr val="00B0F0"/>
                </a:solidFill>
              </a:rPr>
              <a:t>•</a:t>
            </a:r>
            <a:r>
              <a:rPr lang="en-US" dirty="0"/>
              <a:t> Forward pass                         </a:t>
            </a:r>
            <a:r>
              <a:rPr lang="en-US" dirty="0">
                <a:solidFill>
                  <a:srgbClr val="00B0F0"/>
                </a:solidFill>
              </a:rPr>
              <a:t>•</a:t>
            </a:r>
            <a:r>
              <a:rPr lang="en-US" dirty="0"/>
              <a:t> Adam optimizer</a:t>
            </a:r>
          </a:p>
          <a:p>
            <a:r>
              <a:rPr lang="en-US" dirty="0">
                <a:solidFill>
                  <a:srgbClr val="00B0F0"/>
                </a:solidFill>
              </a:rPr>
              <a:t>•</a:t>
            </a:r>
            <a:r>
              <a:rPr lang="en-US" dirty="0"/>
              <a:t> Loss calculation                       </a:t>
            </a:r>
            <a:r>
              <a:rPr lang="en-US" dirty="0">
                <a:solidFill>
                  <a:srgbClr val="00B0F0"/>
                </a:solidFill>
              </a:rPr>
              <a:t>•</a:t>
            </a:r>
            <a:r>
              <a:rPr lang="en-US" dirty="0"/>
              <a:t> Monitoring accuracy and validation loss</a:t>
            </a:r>
          </a:p>
          <a:p>
            <a:r>
              <a:rPr lang="en-US" dirty="0">
                <a:solidFill>
                  <a:srgbClr val="00B0F0"/>
                </a:solidFill>
              </a:rPr>
              <a:t>•</a:t>
            </a:r>
            <a:r>
              <a:rPr lang="en-US" dirty="0"/>
              <a:t> Backpropagation                    </a:t>
            </a:r>
            <a:r>
              <a:rPr lang="en-US" dirty="0">
                <a:solidFill>
                  <a:srgbClr val="00B0F0"/>
                </a:solidFill>
              </a:rPr>
              <a:t>•</a:t>
            </a:r>
            <a:r>
              <a:rPr lang="en-US" dirty="0"/>
              <a:t> Early stopping or best-model saving.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56B60844-2285-E25F-D3AB-36574A64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A670A7E7-78B9-3DEC-65AD-B9F7889AE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61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37C80-2581-B833-83A9-52216801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4835-30DD-E735-0E46-F0510E353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C74CC-5501-E0D9-7C64-97C216B30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/>
              <a:t>Performance evaluated using: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Accuracy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Classification loss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Confusion matrix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Per-class performance</a:t>
            </a:r>
          </a:p>
          <a:p>
            <a:endParaRPr lang="en-US" dirty="0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F96E720D-CE68-4735-8918-51D3A9F48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7D0BDAC8-F333-8543-729C-2CD724254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88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9022-60C0-17DC-C467-BD9A9338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F067-53AE-05F1-5106-6576B930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243CB-01C1-9B85-3847-04B6FFBAF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Model shows good validation accuracy.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Performance depends on dataset quality, class balance, hyperparameters.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ResNet18 is effective for density classification A–D.</a:t>
            </a:r>
          </a:p>
          <a:p>
            <a:endParaRPr lang="en-US" dirty="0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9BB145A3-E0E6-A8A0-1905-80A50909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254F14D7-3F62-3CAD-F299-3C1B4DAEA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56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5288C-C5C7-B0CE-F1F4-23293C7C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EE20-BFC8-8251-FFC1-4BE8FAF4D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3A4AC-BDAD-897D-DBCF-72F2D273B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Model can be integrated into: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  Hospital PACS systems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  Mobile health apps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  Radiologist support tools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  Helps early detection and reduces misdiagnosis</a:t>
            </a:r>
          </a:p>
          <a:p>
            <a:endParaRPr lang="en-US" dirty="0"/>
          </a:p>
        </p:txBody>
      </p:sp>
      <p:pic>
        <p:nvPicPr>
          <p:cNvPr id="5" name="Picture 4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0362BB50-142D-A5A8-4FB4-74AB7270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57" y="70866"/>
            <a:ext cx="1459366" cy="810877"/>
          </a:xfrm>
          <a:prstGeom prst="rect">
            <a:avLst/>
          </a:prstGeom>
        </p:spPr>
      </p:pic>
      <p:pic>
        <p:nvPicPr>
          <p:cNvPr id="9" name="Picture 8" descr="A logo of a global community&#10;&#10;AI-generated content may be incorrect.">
            <a:extLst>
              <a:ext uri="{FF2B5EF4-FFF2-40B4-BE49-F238E27FC236}">
                <a16:creationId xmlns:a16="http://schemas.microsoft.com/office/drawing/2014/main" id="{FA20B3D3-163C-D199-C864-F3BF312FD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7" y="2939"/>
            <a:ext cx="1241652" cy="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42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818A-C161-00E2-C4F0-4B3886D2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6E8E0-5476-27C5-B17F-8A9E4B00A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49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FAC0-C8C8-7AEE-7DA8-B52F65F9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8430C-59F8-BDF1-17C0-391DA5930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73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36</TotalTime>
  <Words>422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Tw Cen MT</vt:lpstr>
      <vt:lpstr>Tw Cen MT Condensed</vt:lpstr>
      <vt:lpstr>Wingdings</vt:lpstr>
      <vt:lpstr>Wingdings 3</vt:lpstr>
      <vt:lpstr>Integral</vt:lpstr>
      <vt:lpstr>Breast Density Classification Using ResNet18</vt:lpstr>
      <vt:lpstr>Title Lorem Ipsum Dolor</vt:lpstr>
      <vt:lpstr>Introduction</vt:lpstr>
      <vt:lpstr>Problem Statement</vt:lpstr>
      <vt:lpstr>Dataset: RSNA Breast Density</vt:lpstr>
      <vt:lpstr>Exploratory Data Analysis (EDA)</vt:lpstr>
      <vt:lpstr>Preprocessing</vt:lpstr>
      <vt:lpstr>Model Architecture: ResNet18</vt:lpstr>
      <vt:lpstr>Training Pipeline</vt:lpstr>
      <vt:lpstr>Model Evaluation</vt:lpstr>
      <vt:lpstr>Results</vt:lpstr>
      <vt:lpstr>Real-World Application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Tasneem Husain</dc:creator>
  <cp:lastModifiedBy>Tasneem Husain</cp:lastModifiedBy>
  <cp:revision>1</cp:revision>
  <dcterms:created xsi:type="dcterms:W3CDTF">2025-11-29T23:05:29Z</dcterms:created>
  <dcterms:modified xsi:type="dcterms:W3CDTF">2025-11-29T23:41:46Z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